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 — DMI-FM Hopfion 成功稳定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在 FeGe 体系下，用 Sutcliffe 解析初始态作为种子，结合顶底层 frozenspins 强制 mz=±1 边界，并开启退磁场，Bloch Hopfion 在 d=210 nm (3λ)、h=70 nm (λ) 盘几何中 2 ns 演化保持稳定。三个条件缺一不可：缺 Sutcliffe 初态收敛失败；缺 frozenspins 被表面磁化吃掉；缺退磁场 MAP 态比 Hopfion 能量更低、跃迁掉。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材料参数：Msat=384e3, Aex=8.78e-12, Dbulk=1.58e-3, λ=70 nm。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来源：`20251219_dmi_fm/successful_simulation/run_analytic_relax.out/`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dmi_fm_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17103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 — DMI-FM 失败：Bulk PBC 螺旋态竞争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在 Bulk PBC（无 frozen 边界、无表面）几何下尝试 2 次仿真（nopbc_demag、pbc_demag、nopbc_nodemag、pbc_nodemag 四种组合）。Hopfion 初始态弛豫过程中始终被螺旋态竞争掉，最终演化为螺旋态。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说明 Bloch Hopfion 在 FeGe 中的稳定性强依赖于表面边界条件，不是 bulk 拓扑稳定相。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无图。来源：`20251219_dmi_fm/failed_attempts/bulk_pbc_tests/`（4 runs）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P3 — DMI-FM 失败：错误环形 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在意识到需要 Sutcliffe 解析初态之前，尝试用 disc 环形 ansatz 直接构造 Hopfion 初始态。共 4 次尝试（含 128nm 体系 + 含退磁组合）。Hopfion 拓扑结构在弛豫早期就解构。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教训：3D 拓扑结构不能用 2D 环形剖面外推；必须用基于 Hopf 不变量的解析解。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无图。来源：`20251219_dmi_fm/failed_attempts/sutcliffe_disc_wrong_ansatz/`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P4 — DMI-FM 失败：toroidal nanoring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尝试用环形 nanoring 几何承载 Hopfion，2 次实验都未跑完。判断方向不对后放弃。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仅描述现象，无结论。来源：`20251219_dmi_fm/failed_attempts/toroidal_nanoring_approach/`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P5 — DMI-FM 旁支：isolated_10λ + Neel 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isolated_hopfion_10lambda：10λ 盘几何下隔离 Hopfion 1 次测试，作为成功方案的尺寸对照。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neel_hopfion：Neel 型 Hopfion 共 9 次扫描（v1-v4 演化 + 5 个变体），v4 最长跑到 125 帧。结论：Neel 型也可稳定，与 Bloch 型并行存在。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无图。来源：`20251219_dmi_fm/{isolated_hopfion_10lambda, neel_hopfion}/`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P6 — Frustrated FM 固有吸引子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无 DMI 体系，参数：100³ 格点 / 0.5 nm cell / PBC(1,1,1) / Ms=1.5e5 / Aex=5e-12 / J2=-0.164·J1 / J4=-0.082·J1。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size_sweep 两次实验：R8r4 初始 + R12r5 初始，Ku=0 下分别弛豫。两者都收敛到同一吸引子 R=2.60 nm。R12r5 收缩到 R=2.60，R8r4 膨胀到 R=2.60。说明体系存在唯一的固有 Hopfion 尺寸。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无图（可加 bishe fig3-3_size_convergence）。来源：`20260105_frustrated_fm/size_sweep/`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P7 — Frustrated FM 居中稳态（三组 Ku）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centered_stability_test：把 Hopfion 平移到盒子中心，验证不同 Ku 下的居中稳态。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| 配置 | 1ns z 漂移 | 结果 |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|---|---|---|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| Ku=0 | +0.70 nm | PASS（呼吸模式）|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| Ku=10k | -0.019 nm | PASS（最稳，选为 SW 初始态）|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| Ku=50k | +0.062 nm | PASS |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判定：1 ns z-center 漂移 &lt;2 nm。三组全过。Ku=10k 输出 m000020.ovf 作为后续自旋波动力学全部仿真的公共初始态。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无图。来源：`20260105_frustrated_fm/centered_stability_test/`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P8 — Ku 临界扫描（13 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anisotropy_study/ku_critical_sweep：固定 R8r4 初始，扫描 Ku=0 / 5k / 10k / 20k / 30k / 40k / 50k / 52k / 55k / 56k / 57k / 58k 共 13 个点。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现象 + 结论：Ku 增大 Hopfion 单调收缩。R8r4 体系下，约 52–55 k 区间 Hopfion 结构坍塌。具体临界值 Ku_c 因材料体系而异（R3r2、R12r5 各不同），非研究优先级。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来源：`20260105_frustrated_fm/anisotropy_study/ku_critical_sweep/`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ku_critical_R_vs_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4779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P9 — size_vs_ku + 拓扑荷 Q_H=1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anisotropy_study/size_vs_ku：R12r5 起始，扫描 Ku=0 / 2.5k / 5k / 10k / 12k 等共 6 个点，研究 R(Ku) 依赖关系。与 ku_critical_sweep 互补。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compute_hopf_index.py 对当前体系所有 Hopfion 初始态做 Q_H 数值验证：结果均为 Q_H=1。Q_H=2 (p=1,q=2) 和 Q_H=4 在 frustrated FM 体系下的稳定性**从未仿真**，是下一步方向。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无图。来源：`20260105_frustrated_fm/anisotropy_study/size_vs_ku/` + `compute_hopf_index.py`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P10 — 漂移旧实验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drift_experiments 旧实验：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bg_mx_axis_x_stable：alpha=5.0, R8r4, 10 ns 长跑，200 帧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bg_my_axis_y_stable：1 ns 短跑，20 帧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**当初结论**：bg=mz 漂移、bg=mx,my 稳定。该结论已写入毕设论文 ch03 §3.2.3 早期版本。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无图。来源：`20260105_frustrated_fm/drift_experiments/{bg_mx_axis_x_stable, bg_my_axis_y_stable}/`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P11 — 漂移结论推翻：unified_rerun 控制变量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unified_rerun：4 组统一参数（alpha=0.2, Ku=0, R3r2, 2 ns），bg=mx/my/mz × axis 组合。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**结果**：4 组完全一致，bg 方向无影响。**旧结论推翻。**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**真实机理**：前 1 ns 轴向格点递举弛豫 4.75 nm，之后钉扎。漂移与背景磁化方向无关。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毕设 ch03 §3.2.3、ch06 已同步修正；fig3-4_drift_comparison.png 重新生成入论文。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来源：`20260105_frustrated_fm/drift_experiments/unified_rerun/`（4 组 + continue）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drift_4group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15862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P12 — 自旋波方向选择性（5 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drive_selection/plane_wave 5 次仿真：srcX×vibX, srcX×vibZ, srcY×vibX, srcZ×vibX, srcZ×vibZ。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**结论**：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vibX 强耦合，vibZ 无耦合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srcX 与 srcY 完全等价（面内对称性）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vibZ 路径下 Hopfion 几乎不动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后续所有自旋波仿真默认 vib 方向 = X。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来源：`20260105_frustrated_fm/spin_wave_dynamics/drive_selection/plane_wave/`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direction_sele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61537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P13 — 平面源 srcX 频率扫描（14 频率）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freq_sweep/plane_wave/srcX：02ns 段 10 频率（100/200/300/400/500/600/700/800/900/1000 GHz）+ 05ns 段 4 频率（100/200/500/1000 GHz）。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**结论**：100-200 GHz、1000 GHz 强响应；400-600 GHz 死区（位移近零）；Hopfion 沿 +z 方向运动（垂直波传播方向）。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来源：`20260105_frustrated_fm/spin_wave_dynamics/freq_sweep/plane_wave/srcX/{02ns, 05ns}/`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freq_response_src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30697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P14 — 平面源 srcZ 频率扫描（20 频率）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freq_sweep/plane_wave/srcZ：coarse 10 频率 + fine 10 频率，总共 20 个频率点（100-1500 GHz 区间）。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**结论**：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- 1100 GHz 全频段最强响应：|dz| = 18.1 nm，方向 -z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- 100 GHz 异常：方向 +z（与其他频率相反）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死区：75 / 150 / 600 / 1300 GHz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整体趋势：srcZ → -z（沿波传播方向）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来源：`20260105_frustrated_fm/spin_wave_dynamics/freq_sweep/plane_wave/srcZ/`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freq_response_src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P15 — srcX 幅度扫描 @440 GHz（旧标度律已推翻）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amplitude_sweep/plane_wave 6 点：B = 0.05 / 0.1 / 0.2 / 0.3 / 0.5 / 0.7 / 1.0 / 2.0 T 等。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**毕设原结论**：v∝B¹·⁹⁹ 幂律（仅基于 B=0.5/1.0/2.0 T 三点拟合）。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**已推翻**：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拟合点过少（仅 3 点）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B≤0.2 T 数据被排除为"噪声"（|dr|&lt;0.1 nm）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B=0.05 / 0.1 T 实际朝源运动 -z，B≥0.2 T 远离源 +z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方向反转阈值 Bc ∈ (0.1, 0.2) T 未精确定位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B=5 T 高场点未验证幂律是否外推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**现状**：方向反转 + 幂律两个现象并存，但准确标度律和精确 Bc 都未确定。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来源：`20260105_frustrated_fm/spin_wave_dynamics/amplitude_sweep/plane_wave/`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amplitude_law_f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26264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P16 — srcZ 幅度扫描 @1100 GHz（cron 跑，部分数据）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amplitude_sweep/plane_wave_srcZ：B=0.1 / 0.5 / 1.0 / 1.5 / 2.0 T 等约 6 点 @1100 GHz cron 进行。当前数据回收状态不全，未整理分析。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仅描述现象：在已完成 B 点上，Hopfion 沿 -z 漂移幅度大致随 B 增大。无量化标度律结论。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无图。来源：`20260105_frustrated_fm/spin_wave_dynamics/amplitude_sweep/plane_wave_srcZ/`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P17 — 单源双向 z 控制（结论）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综合 P13 P14：仅靠平面源、单一频率、改换激发位置，就实现 Hopfion 沿 ±z 双向运动：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srcX → +z（垂直传播）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srcZ → -z（沿传播）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这是后续多源 freq_switch 实验的物理基础。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P18 — 点源 srcX 频率扫描（10 频率）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freq_sweep/point_source/srcX：DefRegionCell(7, 30, 50, 50) 单格 0.5 nm³，B_amp=500 T（对比平面源 1 T 薄片层）。10 频率 100-1000 GHz。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**结论**（B 设备数据迁回 2026-04-09）：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最强响应：700 GHz，|dr| = 5.71 nm（vs 平面源 1000 GHz）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**全频段 +z**，与平面源 srcX 一致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**死区消失**（平面源有 400-600 GHz 死区）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Hall 角 69-89°，保持高 Hall 角拓扑特征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来源：`20260105_frustrated_fm/spin_wave_dynamics/freq_sweep/point_source/srcX/`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point_vs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41640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P19 — 点源 srcZ 频率扫描（10 频率）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同 P18 参数，srcZ 位置。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**结论**：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最强响应：800 GHz，|dr| = 7.31 nm，方向 -z（vs 平面源 1100 GHz）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**方向分布更复杂**：100/200/300/400 / 600 / 900 GHz +z，500 / 700 / 800 GHz -z（vs 平面源仅 100 GHz 异常）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Hall 角 9-40°（vs 平面源 ~1°），对称性部分破坏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核心结论（综合 P18 P19）：振荡方向选择性、运动方向、Hall 角等本质由 Hopfion 拓扑决定，不依赖激励几何。点源改变共振分布细节，未改变基本物理图像。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无图（共用 P18 图）。来源：`20260105_frustrated_fm/spin_wave_dynamics/freq_sweep/point_source/srcZ/`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P20 — 点源幅度扫描（部分完成）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amplitude_sweep/point_source @1100 GHz：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| B | 状态 |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|---|---|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| B100 / B200 / B300 / B400 | 完成 |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| B500 | **停在 0.433 ns**，未续跑成功 |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| B700 / B1000 / B2000 | 未跑 |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仅描述现象：已完成的 B100-B400 显示 Hopfion 位移随 B 增大但尚无完整 v(B) 曲线，无标度律结论。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无图。来源：`20260105_frustrated_fm/spin_wave_dynamics/amplitude_sweep/point_source/`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P21 — 多源基线 + 双向 z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baseline：srcX + srcZ 同时激发 @单一频率 → Hopfion 仅 +z，未实现反转。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bidirectional_z v1（z_bidirectional_control）：双源叠加 + 反相设计 → Hopfion 仍仅 +z。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结论：单纯空间叠加双源不足以实现双向 z 控制，需要时序切换。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无图。来源：`20260105_frustrated_fm/spin_wave_dynamics/multisource_control/{baseline, bidirectional_z/v1}/`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P22 — freq_switch v2 v3 双向 z 控制（含坍塌真相）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freq_switch v2（Phase1=0.10ns / Phase2=0.40ns）：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Phase1 100 GHz：Hopfion 仅 +0.04 nm（**Phase1 太短**）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Phase2 1100 GHz：Hopfion 到 -18.7 nm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**双向 FAILED**：未观察到 +z → -z 完整反转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freq_switch v3（Phase1=0.50ns / Phase2=0.50ns）：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Phase1 100 GHz：0 → +17.6 nm（**PASS**）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Phase2 1100 GHz：+17.6 nm → -12.9 nm（**反转 SUCCESS**）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**t ≈ 0.91 ns Hopfion 拓扑结构坍塌，core=0**（毕设展示截到 0.80 ns，未提坍塌，本次完整呈现到 1.00 ns）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**失败根因**：1100 GHz 推 -z 力量过强（耦合 ~74 nm/ns，远超 Phase1 的 ~35 nm/ns），Phase2 持续 0.30 ns 形变累积过临界。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**方案 A 调参（未实施）**：Phase2 脉宽 → 0.05-0.10 ns；Phase2 振幅 → 0.3-0.5 T；后接 0 场维持。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来源：`20260105_frustrated_fm/spin_wave_dynamics/multisource_control/bidirectional_z/`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freq_switch_v3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255596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P23 — STT 驱动 Bloch Hopfion（Wang 2019 复现）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20260310_wang2019_hopfion_STT：复现 Wang et al. 2019 PRL。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v1：91 帧 STT 驱动动力学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v2：32 帧，参数调整版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结论：STT 电流可驱动 Bloch Hopfion 沿电流方向运动，与 Wang 论文趋势一致。后续未深入做参数扫描。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无图。来源：`20260310_wang2019_hopfion_STT/`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P24 — LIF Phase 1：梯度 Ku 恢复力验证（PASS）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lif_neuron_hopfion/gradient_ku_verification：drive-release 实验对照。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gradient_ku_drive_release：100 GHz drive 0.3 ns → OFF 2 ns，Ku 梯度（10000→5500，沿 z 方向 10 区）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uniform_ku_drive_release：对照，固定 Ku=10000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**结论 PASS**：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gradient 在 +7.8 nm 收敛（near-critical damping）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uniform 在原点附近持续振荡（underdamped）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梯度 Ku 提供了清晰的恢复力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**意外发现**：Hopfion **偏好低 Ku 区**（gradient 平衡在 Ku≈7500 端，即 +z 端），与初始假设"Hopfion 趋向高 Ku 区"**相反**。Phase 2 设计因此需要反转源-初态位置。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来源：`lif_neuron_hopfion/gradient_ku_verification/drive_release_test/`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lif_phase1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429045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P25 — LIF Phase 2 F1：脉冲列 integrate（FAILED）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lif_cycle_demo/pulse_train_integrate：4 脉冲 @1100 GHz（0.15 ns on / 0.25 ns gap） + 100 GHz fire + 不应期，总 2.15 ns。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**FAILED**，t=1.089 ns kill（6h49m 跑了 49.5%）。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OVF 坐标系修正后真实轨迹：0 → Leak1 末 -6.76 nm → Pulse2 末 -13.93 nm → Leak3 末 -16.95 nm（持续 overshoot，未稳定）。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**失败原因**：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1. 1100 GHz 推 -z 方向，与梯度 Ku 恢复力 +z **同向**（不是反向），Hopfion 单向漂移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2. Leak 期 Hopfion 继续 overshoot，残余自旋波能量 &gt;&gt; 梯度恢复力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3. Phase 1 V2 在 100 GHz 下的"低 Ku 偏好"不能外推到 1100 GHz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来源：`lif_neuron_hopfion/lif_cycle_demo/pulse_train_integrate/`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  <p:pic>
        <p:nvPicPr>
          <p:cNvPr id="4" name="Picture 3" descr="lif_phase2_f1_f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297680" cy="19534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P26 — LIF Phase 2 重设计候选（未开工）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4 个候选方向：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**方案 A**：反转源-初态相对位置（initial 在 -z 端高 Ku，integrate 用 100 GHz → +z，梯度自然拉回 -z，fire 用反向冲击）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**方案 B**：降低 1100 GHz 幅度（B=0.3 T） + 延长 leak gap（0.5 ns）让自旋波耗散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**方案 C**：缩短 pulse 宽（0.15 → 0.05 ns）减少单次注入能量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**方案 D**：双频叠加 integrate（1100 GHz 短冲 + 立即 100 GHz 反向短冲抑制残余自旋波）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仅 sub-threshold 对照（B=0.1 T）脚本就绪：`subthreshold_B0p1T.mx3`。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未开工，等定方案。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无图。来源：`lif_neuron_hopfion/lif_cycle_demo/`（脚本就绪）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P27 — 旧版本对标：My_old_simulation（系数错误）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old_results/My_old_simulation/ 共 20 个 srcX/srcZ point source freq sweep。**含 J2/J4 系数符号错误**。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具体陷阱：J2 / J4 在 frustrated FM 模型里有正负号约定，不同文献存在差异。旧版本采用了错误符号约定。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与当前正确版本对比：拓扑荷数值差异约 2-3%；动力学定性趋势相同但定量结果不可比。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**经验**：复用别人代码时必须验证符号；从已验证的 R8r4_Ku0.mx3 拷参数，不要从公式重推。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无图。来源：`old_results/My_old_simulation/A材料尺寸对hopfion的影响/`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P28 — Device B 验证 + srtp 学生项目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deviceB_package：用户次要 Windows 机器独立运行 srcZ freq sweep 9 个验证。结果与主机一致，作为独立机器交叉验证。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srtp/：早期学生项目存档。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experiments/fege.mx3：早期 FeGe 尝试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hopfion_mumax3/1.spinwave &amp; magnetic field x/：早期自旋波驱动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magnon-hopfion-main/：振荡-Hopfion 耦合，未完成</a:t>
            </a: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 draw_hopfion/：早期可视化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历史价值：展示项目早期摸索过程，与当前体系参数差异较大，不可直接复用。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无图。来源：`deviceB_package/`、`srtp/`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D5A"/>
                </a:solidFill>
              </a:defRPr>
            </a:pPr>
            <a:r>
              <a:t>P29 — 现状清单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020"/>
                </a:solidFill>
              </a:defRPr>
            </a:pPr>
            <a:r>
              <a:t>**跑完且有清晰结论**：DMI-FM 三条件稳定性 / Frustrated FM 固有吸引子 R=2.60 nm / 居中稳态 Ku 三组 / Ku 临界趋势 / Q_H=1 验证 / 漂移机理修正 / 方向选择性 vibX/vibZ / srcX/srcZ 频率响应 / 单源双向 z 可控性 / 点源 vs 平面源对比 / LIF Phase 1 梯度恢复力 + Hopfion 偏好低 Ku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**跑完但未归纳完整结论**：amplitude_sweep srcX 旧标度律已推翻、新拟合未确定 / freq_switch v3 反转成功但坍塌后无后续 / STT 复现仅趋势确认无定量扫描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**停在半路**：amplitude_sweep srcZ cron 部分缺失 / amplitude_sweep point B500 停在 0.433 ns / freq_switch v3 坍塌后未续 / LIF Phase 2 F1 在 1.089 ns kill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**从未启动**：Q_H=2 / Q_H=4 稳定性验证 / freq_switch v3 方案 A 调参 / LIF Phase 2 重设计 4 候选 / Wang 2019 STT 参数扫描深化</a:t>
            </a:r>
          </a:p>
          <a:p>
            <a:pPr>
              <a:defRPr sz="1300">
                <a:solidFill>
                  <a:srgbClr val="202020"/>
                </a:solidFill>
              </a:defRPr>
            </a:pPr>
          </a:p>
          <a:p>
            <a:pPr>
              <a:defRPr sz="1300">
                <a:solidFill>
                  <a:srgbClr val="202020"/>
                </a:solidFill>
              </a:defRPr>
            </a:pPr>
            <a:r>
              <a:t>无图。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